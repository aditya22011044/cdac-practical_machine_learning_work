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script: Today we will not memorize a gradient descent formula first. We will use only two observations, predict their outputs with different slopes, calculate the cost, and see why a negative gradient makes the algorithm increase the regression slope. The intercept is fixed at zero only to keep the arithmetic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say the distinction aloud: The slope m belongs to the prediction line in the original x-y graph. The gradient dJ/dm belongs to the error graph whose horizontal axis is candidate m and vertical axis is MSE. These can have opposite 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x and y, then the model. With c=0, when x=1 the prediction is m and when x=2 the prediction is 2m. Students can see that m=2 is the perfect solution, but we act as though the computer does not know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m=0 the line lies on the x-axis. Explain the dashed vertical gaps as residuals. The actual y values are 2 and 4; predicted values are 0 and 0. Squaring gives 4 and 16; average =10. Do not mention derivatives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table. At m=1: predictions 1 and 2; errors 1 and 2; MSE=(1²+2²)/2 =2.5. At m=2 both predictions match, MSE=0. Emphasize cost measures the quality of a chosen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Algebra: 4−2m = 2(2−m), so (4−2m)^2 = 4(2−m)^2. Sum is 5(2−m)^2; divide by 2 yields 2.5(2−m)^2, equal to 2.5(m−2)^2. J stands for cost. This formula lets us compute error for any candidate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points on the curve from left to right: 0→10, 1→2.5, 2→0, 3→2.5, 4→10. The U shape appears because the squared error is quadratic in m. Negative slope on the left refers to this curve, NOT the original regression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m as the x coordinate and J as the y coordinate. We move right by +1 but down by −7.5. Slope = rise/run = −7.5/+1 = −7.5. This is the average or secant slope between A and B. Ask the class why the numerator is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right, movement +1 in m causes +2.5 in J. Slope is +2.5. These are average slopes over an interval. Ask students to contrast right upward with left downward.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secant slope between m=0 and m=1 was −7.5. The tangent slope precisely at m=1 is −5. Explain that derivative gives the local rate of change. Differentiate J=2.5(m−2)^2 with the chain rule to get 5(m−2). No need to derive general multivariate calculus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Greek alpha is learning rate. We will choose 0.1. Gradient descent subtracts the gradient times the learning rate. If the gradient is −5, subtraction makes m increase. If the gradient is +5, subtraction makes m decrease. This describes descent on the error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gradient −10. The update is 0 minus 0.1 times −10, giving m=1. Ask students why subtraction of a negative moves us to the right. Then calculate the cost for the new slope: J(1)=2.5.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J gradient at m=1 is −5. New m=1.5. Compute J(1.5)=2.5(−0.5)^2 =0.625. The learning step was 0.5 instead of 1, because the magnitude of the gradient has halved.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gradient is −2.5. New m=1.75. J=2.5(−0.25)^2 =0.15625. Explain that proximity to the minimum produces smaller gradients for this quadratic cost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sequence m=0,1,1.5,1.75,1.875,1.9375,... approaches 2. MSE approaches zero. With α=0.1 here, each update halves the gap 2−m. Distinguish approaching a limit from always hitting it exactly in finitely many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axis labels. The regression plot has x (study hours) horizontally and y (marks) vertically. The cost plot has m horizontally and MSE vertically. At m=1 the regression line slopes up (+1), while the cost curve slopes down (−5). These do not contradict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60–90 seconds. They should evaluate gradient=5(3−2)=+5, then update m_new=3−0.1×5 =2.5. Ask them to describe the move as LEFT on the cost curve. Do not display next slide until they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the positive gradient case. Moving m from 3 to 2.5 reduces cost from 2.5 to .625. The negative sign before learning rate gives descent on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the loop in a notebook. Show students where the prediction, MSE, gradient, and update each occur. The gradient formula 2*mean[X*(pred−y)] is the derivative of MSE for the zero-intercept model. The print statement displays each iterate before it is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describe in their own words why a cost gradient of −5 tells us to increase m. Revisit difference between a secant slope (−7.5) and a derivative at m=1 (−5). Highlight that the intercept was fixed at 0 for this demonstration; in general the intercept is updated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035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71DE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VISUAL, FULLY WORKED LESSON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21792" y="18470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7F0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it find the slope?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283464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8D9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data points  →  cost curve  →  negative slope  →  repeated updates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" y="3895344"/>
            <a:ext cx="6492240" cy="832104"/>
          </a:xfrm>
          <a:prstGeom prst="roundRect">
            <a:avLst>
              <a:gd name="adj" fmla="val 21978"/>
            </a:avLst>
          </a:prstGeom>
          <a:solidFill>
            <a:srgbClr val="223E57"/>
          </a:solidFill>
          <a:ln w="11430">
            <a:solidFill>
              <a:srgbClr val="3A64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4069080"/>
            <a:ext cx="5961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exact example:  (1, 2) and (2, 4)   |   ŷ = mx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99832" y="1097280"/>
            <a:ext cx="3767328" cy="4443984"/>
          </a:xfrm>
          <a:prstGeom prst="roundRect">
            <a:avLst>
              <a:gd name="adj" fmla="val 53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/mnt/data/grad_desc_assets/cost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1545336"/>
            <a:ext cx="3392424" cy="3291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0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minimum error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62453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 •  CLASSROOM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question are we solving?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want a line that predicts the data with the smallest possible error.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56232"/>
            <a:ext cx="51206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56232"/>
            <a:ext cx="64008" cy="1920240"/>
          </a:xfrm>
          <a:prstGeom prst="rect">
            <a:avLst/>
          </a:prstGeom>
          <a:solidFill>
            <a:srgbClr val="3068D7"/>
          </a:solidFill>
          <a:ln w="12700">
            <a:solidFill>
              <a:srgbClr val="3068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39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changing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450592"/>
            <a:ext cx="46817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regression line’s slope, 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 values produce different predicted marks.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856232"/>
            <a:ext cx="55778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856232"/>
            <a:ext cx="64008" cy="1920240"/>
          </a:xfrm>
          <a:prstGeom prst="rect">
            <a:avLst/>
          </a:prstGeom>
          <a:solidFill>
            <a:srgbClr val="D84D5B"/>
          </a:solidFill>
          <a:ln w="12700">
            <a:solidFill>
              <a:srgbClr val="D84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0391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tells us the direction?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450592"/>
            <a:ext cx="5138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gradient of the cost curve, dJ/dm.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shows how the prediction error changes when m changes.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4114800"/>
            <a:ext cx="10149840" cy="1344168"/>
          </a:xfrm>
          <a:prstGeom prst="roundRect">
            <a:avLst>
              <a:gd name="adj" fmla="val 10884"/>
            </a:avLst>
          </a:prstGeom>
          <a:solidFill>
            <a:srgbClr val="EAF7F4"/>
          </a:solidFill>
          <a:ln w="11430">
            <a:solidFill>
              <a:srgbClr val="D6E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29768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SLOPES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70001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slope m  ≠  Cost-function gradient dJ/dm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entire dataset: just two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fix the intercept at c = 0, so only the slope m needs to be learned.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929384"/>
            <a:ext cx="41148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7614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(hours)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79776" y="27614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(marks)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77824" y="3127248"/>
            <a:ext cx="3602736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91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852928" y="3291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85292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41148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09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EQUATION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4992624"/>
            <a:ext cx="3694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m × x</a:t>
            </a:r>
            <a:endParaRPr lang="en-US" sz="2300" dirty="0"/>
          </a:p>
        </p:txBody>
      </p:sp>
      <p:pic>
        <p:nvPicPr>
          <p:cNvPr id="21" name="Image 0" descr="/mnt/data/grad_desc_assets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65376"/>
            <a:ext cx="6327648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guess: m = 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flat line predicts zero for both observations.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pic>
        <p:nvPicPr>
          <p:cNvPr id="9" name="Image 0" descr="/mnt/data/grad_desc_assets/gues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56232"/>
            <a:ext cx="6483096" cy="4206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068312" y="1920240"/>
            <a:ext cx="438912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51776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51776" y="2752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1  →  ŷ = 0 × 1 = 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51776" y="3218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2  →  ŷ = 0 × 2 = 0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15200" y="3703320"/>
            <a:ext cx="3794760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51776" y="3950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= [(2 − 0)² + (4 − 0)²] / 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42632" y="4700016"/>
            <a:ext cx="3803904" cy="758952"/>
          </a:xfrm>
          <a:prstGeom prst="roundRect">
            <a:avLst>
              <a:gd name="adj" fmla="val 16867"/>
            </a:avLst>
          </a:prstGeom>
          <a:solidFill>
            <a:srgbClr val="FEF1F1"/>
          </a:solidFill>
          <a:ln w="12700">
            <a:solidFill>
              <a:srgbClr val="FEF1F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79792" y="4855464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84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= 10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three possible slopes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m changes both predictions and their errors.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pic>
        <p:nvPicPr>
          <p:cNvPr id="9" name="Image 0" descr="/mnt/data/grad_desc_assets/three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965960"/>
            <a:ext cx="6437376" cy="42428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068312" y="2011680"/>
            <a:ext cx="4361688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2276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MSE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15200" y="2898648"/>
            <a:ext cx="3776472" cy="621792"/>
          </a:xfrm>
          <a:prstGeom prst="roundRect">
            <a:avLst>
              <a:gd name="adj" fmla="val 14706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34072" y="29992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84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375904" y="2999232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0, 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204704" y="299923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84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0" y="3666744"/>
            <a:ext cx="3776472" cy="621792"/>
          </a:xfrm>
          <a:prstGeom prst="roundRect">
            <a:avLst>
              <a:gd name="adj" fmla="val 14706"/>
            </a:avLst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376732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375904" y="3767328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1, 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204704" y="376732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315200" y="4434840"/>
            <a:ext cx="3776472" cy="621792"/>
          </a:xfrm>
          <a:prstGeom prst="roundRect">
            <a:avLst>
              <a:gd name="adj" fmla="val 14706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34072" y="453542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375904" y="453542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2, 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204704" y="453542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51776" y="54955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of these guesses:  m = 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equation for the cost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manually testing every m, express the entire error as a function of 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1828800"/>
            <a:ext cx="5074920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1828800"/>
            <a:ext cx="64008" cy="1444752"/>
          </a:xfrm>
          <a:prstGeom prst="rect">
            <a:avLst/>
          </a:prstGeom>
          <a:solidFill>
            <a:srgbClr val="3068D7"/>
          </a:solidFill>
          <a:ln w="12700">
            <a:solidFill>
              <a:srgbClr val="3068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1: (1, 2)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2423160"/>
            <a:ext cx="4636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= m   →   squared error = (2 − m)²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52744" y="1828800"/>
            <a:ext cx="5596128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52744" y="1828800"/>
            <a:ext cx="64008" cy="1444752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011680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2: (2, 4)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1344" y="2423160"/>
            <a:ext cx="5157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= 2m  →  squared error = (4 − 2m)²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3575304"/>
            <a:ext cx="1095451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712464"/>
            <a:ext cx="10588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SQUARED ERROR (2 OBSERVATIONS)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" y="3995928"/>
            <a:ext cx="10533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J(m) = [(2 − m)² + (4 − 2m)²] / 2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911096" y="5020056"/>
            <a:ext cx="8366760" cy="978408"/>
          </a:xfrm>
          <a:prstGeom prst="roundRect">
            <a:avLst>
              <a:gd name="adj" fmla="val 12150"/>
            </a:avLst>
          </a:prstGeom>
          <a:solidFill>
            <a:srgbClr val="EAF6F3"/>
          </a:solidFill>
          <a:ln w="11430">
            <a:solidFill>
              <a:srgbClr val="D1E9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221224"/>
            <a:ext cx="7946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Simplify:  J(m) = 2.5 (m − 2)²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formula into a cost curve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axis = candidate regression slope m. Vertical axis = MSE.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pic>
        <p:nvPicPr>
          <p:cNvPr id="9" name="Image 0" descr="/mnt/data/grad_desc_assets/cost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828800"/>
            <a:ext cx="6839712" cy="4325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24928" y="1938528"/>
            <a:ext cx="4078224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24928" y="1938528"/>
            <a:ext cx="64008" cy="1106424"/>
          </a:xfrm>
          <a:prstGeom prst="rect">
            <a:avLst/>
          </a:prstGeom>
          <a:solidFill>
            <a:srgbClr val="D84D5B"/>
          </a:solidFill>
          <a:ln w="12700">
            <a:solidFill>
              <a:srgbClr val="D84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53528" y="2121408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of minimum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53528" y="2532888"/>
            <a:ext cx="3639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m lowers cost.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24928" y="3310128"/>
            <a:ext cx="4078224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4928" y="3310128"/>
            <a:ext cx="64008" cy="1106424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53528" y="3493008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minimum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53528" y="3904488"/>
            <a:ext cx="3639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 and J(m) = 0.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424928" y="4681728"/>
            <a:ext cx="4078224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24928" y="4681728"/>
            <a:ext cx="64008" cy="1106424"/>
          </a:xfrm>
          <a:prstGeom prst="rect">
            <a:avLst/>
          </a:prstGeom>
          <a:solidFill>
            <a:srgbClr val="DB923B"/>
          </a:solidFill>
          <a:ln w="12700">
            <a:solidFill>
              <a:srgbClr val="DB92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53528" y="4864608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of minimum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653528" y="5276088"/>
            <a:ext cx="3639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m raises cost.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SOLVED EXAMPLE   /   STEP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the NEGATIVE slope on the left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two points on the cost curve—not on the original dataset.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pic>
        <p:nvPicPr>
          <p:cNvPr id="9" name="Image 0" descr="/mnt/data/grad_desc_assets/cost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837944"/>
            <a:ext cx="6565392" cy="4325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41464" y="1920240"/>
            <a:ext cx="4370832" cy="422452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79208" y="21579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ON COST CURVE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79208" y="26334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(m = 0, J = 10)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79208" y="305409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(m = 1, J = 2.5)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51776" y="3602736"/>
            <a:ext cx="3776472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79208" y="3831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 = Δcost / Δm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79208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(2.5 − 10) / (1 − 0)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60920" y="4965192"/>
            <a:ext cx="3785616" cy="804672"/>
          </a:xfrm>
          <a:prstGeom prst="roundRect">
            <a:avLst>
              <a:gd name="adj" fmla="val 15909"/>
            </a:avLst>
          </a:prstGeom>
          <a:solidFill>
            <a:srgbClr val="FEF1F1"/>
          </a:solidFill>
          <a:ln w="12700">
            <a:solidFill>
              <a:srgbClr val="FEF1F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51297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4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−7.5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SOLVED EXAMPLE   /   STEP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the POSITIVE slope on the right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calculation—this time the error increases as m increases.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pic>
        <p:nvPicPr>
          <p:cNvPr id="9" name="Image 0" descr="/mnt/data/grad_desc_assets/cost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837944"/>
            <a:ext cx="6565392" cy="4325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41464" y="1920240"/>
            <a:ext cx="4370832" cy="422452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79208" y="21579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ON COST CURVE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79208" y="26334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(m = 2, J = 0)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79208" y="305409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(m = 3, J = 2.5)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51776" y="3602736"/>
            <a:ext cx="3776472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79208" y="3831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 = Δcost / Δm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79208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(2.5 − 0) / (3 − 2)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60920" y="4965192"/>
            <a:ext cx="3785616" cy="804672"/>
          </a:xfrm>
          <a:prstGeom prst="roundRect">
            <a:avLst>
              <a:gd name="adj" fmla="val 15909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51297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+2.5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IMPORTANT DISTINCTION   /   STEP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slope is NOT the gradient at one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uses the instantaneous slope of the cost curve.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pic>
        <p:nvPicPr>
          <p:cNvPr id="9" name="Image 0" descr="/mnt/data/grad_desc_assets/cost_tan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828800"/>
            <a:ext cx="6519672" cy="4297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0" y="1911096"/>
            <a:ext cx="4398264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2157984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FIRST: DERIVE THE GRADIENT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267004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J(m) = 2.5(m − 2)²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60920" y="3246120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dJ/dm = 5(m − 2)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342632" y="3794760"/>
            <a:ext cx="3858768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3950208"/>
            <a:ext cx="3831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 = 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4334256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× (1 − 2) = −5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333488" y="493776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EF1F1"/>
          </a:solidFill>
          <a:ln w="12700">
            <a:solidFill>
              <a:srgbClr val="FEF1F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5102352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84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= −5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gradient tells us which way to update 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move against the gradient so that cost decreases.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" y="1847088"/>
            <a:ext cx="10652760" cy="1435608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98424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UPDATE RULE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6696" y="2267712"/>
            <a:ext cx="102321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m(new) = m(old) − α × dJ/dm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13816" y="3611880"/>
            <a:ext cx="5056632" cy="1536192"/>
          </a:xfrm>
          <a:prstGeom prst="roundRect">
            <a:avLst>
              <a:gd name="adj" fmla="val 8929"/>
            </a:avLst>
          </a:prstGeom>
          <a:solidFill>
            <a:srgbClr val="FEF1F1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611880"/>
            <a:ext cx="64008" cy="1536192"/>
          </a:xfrm>
          <a:prstGeom prst="rect">
            <a:avLst/>
          </a:prstGeom>
          <a:solidFill>
            <a:srgbClr val="D84D5B"/>
          </a:solidFill>
          <a:ln w="12700">
            <a:solidFill>
              <a:srgbClr val="D84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79476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gradient is NEGATIVE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2416" y="4206240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Subtracting a negative increases 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RIGHT toward the minimum.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0488" y="3611880"/>
            <a:ext cx="5056632" cy="1536192"/>
          </a:xfrm>
          <a:prstGeom prst="roundRect">
            <a:avLst>
              <a:gd name="adj" fmla="val 8929"/>
            </a:avLst>
          </a:prstGeom>
          <a:solidFill>
            <a:srgbClr val="EAF7F1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3611880"/>
            <a:ext cx="64008" cy="1536192"/>
          </a:xfrm>
          <a:prstGeom prst="rect">
            <a:avLst/>
          </a:prstGeom>
          <a:solidFill>
            <a:srgbClr val="168F70"/>
          </a:solidFill>
          <a:ln w="12700">
            <a:solidFill>
              <a:srgbClr val="168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79476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gradient is POSITIVE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Subtracting a positive decreases 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LEFT toward the minimum.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520440" y="5559552"/>
            <a:ext cx="5266944" cy="310896"/>
          </a:xfrm>
          <a:prstGeom prst="roundRect">
            <a:avLst>
              <a:gd name="adj" fmla="val 35294"/>
            </a:avLst>
          </a:prstGeom>
          <a:solidFill>
            <a:srgbClr val="E7EEF5"/>
          </a:solidFill>
          <a:ln w="12700">
            <a:solidFill>
              <a:srgbClr val="E7EEF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55686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= learning rate (step-size multiplier)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SOLVED UPDATE   /   STEP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1: m moves from 0 to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m = 0, learning rate α = 0.1.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10735056" cy="4334256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221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 Gradient at m = 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17904" y="269748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dJ/dm = 5(0 − 2) = −10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2416" y="3383280"/>
            <a:ext cx="10076688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6667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 Update the regression slope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17904" y="41605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m(new) = 0 − 0.1(−10) = 1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1115568" y="5074920"/>
            <a:ext cx="9939528" cy="768096"/>
          </a:xfrm>
          <a:prstGeom prst="roundRect">
            <a:avLst>
              <a:gd name="adj" fmla="val 14286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5248656"/>
            <a:ext cx="9235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falls:  J(0) = 10   →   J(1) = 2.5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SOLVED UPDATE   /   STEP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2: m moves from 1 to 1.5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gradient is still negative, but its magnitude is smaller.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10735056" cy="4334256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221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 Gradient at m = 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17904" y="269748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dJ/dm = 5(1 − 2) = −5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2416" y="3383280"/>
            <a:ext cx="10076688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6667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 Update the regression slope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17904" y="41605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m(new) = 1 − 0.1(−5) = 1.5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1115568" y="5074920"/>
            <a:ext cx="9939528" cy="768096"/>
          </a:xfrm>
          <a:prstGeom prst="roundRect">
            <a:avLst>
              <a:gd name="adj" fmla="val 14286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5248656"/>
            <a:ext cx="9235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falls:  J(1) = 2.5   →   J(1.5) = 0.625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SOLVED UPDATE   /   STEP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3: m moves from 1.5 to 1.75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continue downhill; the updates become progressively smaller.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10735056" cy="4334256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221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 Gradient at m = 1.5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17904" y="269748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dJ/dm = 5(1.5 − 2) = −2.5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2416" y="3383280"/>
            <a:ext cx="10076688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6667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 Update the regression slope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17904" y="41605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m(new) = 1.5 − 0.1(−2.5) = 1.75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1115568" y="5074920"/>
            <a:ext cx="9939528" cy="768096"/>
          </a:xfrm>
          <a:prstGeom prst="roundRect">
            <a:avLst>
              <a:gd name="adj" fmla="val 14286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5248656"/>
            <a:ext cx="9235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falls:  0.625   →   J(1.75) = 0.15625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CONCEPT   /   STEP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slope converge toward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update reduces the cost, with α = 0.1 in this example.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pic>
        <p:nvPicPr>
          <p:cNvPr id="9" name="Image 0" descr="/mnt/data/grad_desc_assets/cost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37944"/>
            <a:ext cx="6583680" cy="43342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87184" y="1947672"/>
            <a:ext cx="4224528" cy="4142232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2212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24544" y="22128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884664" y="221284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70648" y="267004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23960" y="2670048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83496" y="2670048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10.00000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0648" y="309981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823960" y="3099816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683496" y="3099816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2.50000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70648" y="352958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23960" y="3529584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683496" y="3529584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0.62500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470648" y="395935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823960" y="3959352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683496" y="39593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0.15625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470648" y="438912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823960" y="4389120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1.875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683496" y="4389120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0.03906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351776" y="4800600"/>
            <a:ext cx="3794760" cy="402336"/>
          </a:xfrm>
          <a:prstGeom prst="roundRect">
            <a:avLst>
              <a:gd name="adj" fmla="val 18182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70648" y="481888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823960" y="4818888"/>
            <a:ext cx="1143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1.9375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683496" y="4818888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0.00977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434072" y="55412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Limit: m → 2, MSE → 0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MOST IMPORTANT   /   STEP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slopes. Two different graphs.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same moment, the regression slope can be positive and cost gradient negative.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5486400" cy="4133088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920240"/>
            <a:ext cx="5486400" cy="4133088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17627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2560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 = 1, line slope = +1</a:t>
            </a:r>
            <a:endParaRPr lang="en-US" sz="1800" dirty="0"/>
          </a:p>
        </p:txBody>
      </p:sp>
      <p:pic>
        <p:nvPicPr>
          <p:cNvPr id="13" name="Image 0" descr="/mnt/data/grad_desc_assets/gues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880360"/>
            <a:ext cx="4846320" cy="28072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55664" y="217627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84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CURVE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55664" y="2560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 = 1, gradient = −5</a:t>
            </a:r>
            <a:endParaRPr lang="en-US" sz="1800" dirty="0"/>
          </a:p>
        </p:txBody>
      </p:sp>
      <p:pic>
        <p:nvPicPr>
          <p:cNvPr id="16" name="Image 1" descr="/mnt/data/grad_desc_assets/cost_tan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98648"/>
            <a:ext cx="4818888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STUDENT CHECK   /   STEP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turn: what if we start on the RIGHT side?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exact same equation and learning rate.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3816" y="1938528"/>
            <a:ext cx="10579608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27706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 = 3     |     α = 0.1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170432" y="345643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rule:  dJ/dm = 5(m − 2)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4123944"/>
            <a:ext cx="9838944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389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Is the gradient positive or negative?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70432" y="50474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What is the new value of m?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01000" y="5751576"/>
            <a:ext cx="2889504" cy="310896"/>
          </a:xfrm>
          <a:prstGeom prst="roundRect">
            <a:avLst>
              <a:gd name="adj" fmla="val 35294"/>
            </a:avLst>
          </a:prstGeom>
          <a:solidFill>
            <a:srgbClr val="FFF4E4"/>
          </a:solidFill>
          <a:ln w="12700">
            <a:solidFill>
              <a:srgbClr val="FFF4E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5760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9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FOR STUDENT ANSWERS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STUDENT CHECK   /   STEP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Answer: positive gradient means move LEFT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 = 3 the cost rises as m increases, so gradient descent decreases 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" y="1965960"/>
            <a:ext cx="10506456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404872"/>
            <a:ext cx="9692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Gradient = 5(3 − 2) = +5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25296" y="3127248"/>
            <a:ext cx="9692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06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m(new) = 3 − 0.1(+5) = 2.5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207008" y="3813048"/>
            <a:ext cx="9701784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4197096"/>
            <a:ext cx="9692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 Cost:  J(3) = 2.5   →   J(2.5) = 0.625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920240" y="5577840"/>
            <a:ext cx="8357616" cy="484632"/>
          </a:xfrm>
          <a:prstGeom prst="roundRect">
            <a:avLst>
              <a:gd name="adj" fmla="val 22642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5641848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slope m moves toward 2 from BOTH sides of the curve.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CODING DEMO   /   STEP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Python demonstration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line of code corresponds to one step we calculated by hand.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" y="1874520"/>
            <a:ext cx="6611112" cy="4434840"/>
          </a:xfrm>
          <a:prstGeom prst="roundRect">
            <a:avLst>
              <a:gd name="adj" fmla="val 3299"/>
            </a:avLst>
          </a:prstGeom>
          <a:solidFill>
            <a:srgbClr val="162840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103120"/>
            <a:ext cx="604418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np.array([1, 2])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np.array([2, 4])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0.0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0.1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range(6):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 = m * 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mse = np.mean((y - y_pred)**2)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gradient = 2*np.mean(X*(y_pred-y))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round(m, 4), round(mse, 4))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7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m - alpha * gradient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0376" y="1965960"/>
            <a:ext cx="3895344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0376" y="1965960"/>
            <a:ext cx="64008" cy="1005840"/>
          </a:xfrm>
          <a:prstGeom prst="rect">
            <a:avLst/>
          </a:prstGeom>
          <a:solidFill>
            <a:srgbClr val="3068D7"/>
          </a:solidFill>
          <a:ln w="12700">
            <a:solidFill>
              <a:srgbClr val="3068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08976" y="2148840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08976" y="256032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m × 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0376" y="3172968"/>
            <a:ext cx="3895344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0376" y="3172968"/>
            <a:ext cx="64008" cy="1005840"/>
          </a:xfrm>
          <a:prstGeom prst="rect">
            <a:avLst/>
          </a:prstGeom>
          <a:solidFill>
            <a:srgbClr val="DB923B"/>
          </a:solidFill>
          <a:ln w="12700">
            <a:solidFill>
              <a:srgbClr val="DB9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08976" y="3355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error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08976" y="376732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= mean[(y − ŷ)²]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0376" y="4379976"/>
            <a:ext cx="3895344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0376" y="4379976"/>
            <a:ext cx="64008" cy="10058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8976" y="4562856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08976" y="497433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m − α × gradient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62672" y="5715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happens before the update.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8F86"/>
          </a:solidFill>
          <a:ln w="12700">
            <a:solidFill>
              <a:srgbClr val="05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  /   SUMMARY   /   STEP 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remember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example. One cost curve. One repeatable process.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WORKED EXAMPLE  •  X = [1, 2]  •  Y = [2, 4]  •  c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" y="1874520"/>
            <a:ext cx="10661904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20824"/>
            <a:ext cx="420624" cy="310896"/>
          </a:xfrm>
          <a:prstGeom prst="roundRect">
            <a:avLst>
              <a:gd name="adj" fmla="val 35294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0299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00253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starting slope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96128" y="2002536"/>
            <a:ext cx="5321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m = 0.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384" y="2642616"/>
            <a:ext cx="10661904" cy="612648"/>
          </a:xfrm>
          <a:prstGeom prst="roundRect">
            <a:avLst>
              <a:gd name="adj" fmla="val 17910"/>
            </a:avLst>
          </a:prstGeom>
          <a:solidFill>
            <a:srgbClr val="EDF4F9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788920"/>
            <a:ext cx="420624" cy="310896"/>
          </a:xfrm>
          <a:prstGeom prst="roundRect">
            <a:avLst>
              <a:gd name="adj" fmla="val 35294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7980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770632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predictions and error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96128" y="2770632"/>
            <a:ext cx="5321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J(0) = 10.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" y="3410712"/>
            <a:ext cx="10661904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557016"/>
            <a:ext cx="420624" cy="310896"/>
          </a:xfrm>
          <a:prstGeom prst="roundRect">
            <a:avLst>
              <a:gd name="adj" fmla="val 35294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3566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538728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the COST gradient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96128" y="3538728"/>
            <a:ext cx="5321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 = 0, dJ/dm = −10.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6384" y="4178808"/>
            <a:ext cx="10661904" cy="612648"/>
          </a:xfrm>
          <a:prstGeom prst="roundRect">
            <a:avLst>
              <a:gd name="adj" fmla="val 17910"/>
            </a:avLst>
          </a:prstGeom>
          <a:solidFill>
            <a:srgbClr val="EDF4F9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325112"/>
            <a:ext cx="420624" cy="310896"/>
          </a:xfrm>
          <a:prstGeom prst="roundRect">
            <a:avLst>
              <a:gd name="adj" fmla="val 35294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43342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4306824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opposite to the gradient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96128" y="4306824"/>
            <a:ext cx="5321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m(new) = 0 − 0.1(−10) = 1.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6384" y="4946904"/>
            <a:ext cx="10661904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1430">
            <a:solidFill>
              <a:srgbClr val="DD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5093208"/>
            <a:ext cx="420624" cy="310896"/>
          </a:xfrm>
          <a:prstGeom prst="roundRect">
            <a:avLst>
              <a:gd name="adj" fmla="val 35294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1023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00200" y="5074920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until the error is low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96128" y="5074920"/>
            <a:ext cx="5321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moves toward 2; MSE toward 0.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43584" y="5897880"/>
            <a:ext cx="9710928" cy="356616"/>
          </a:xfrm>
          <a:prstGeom prst="roundRect">
            <a:avLst>
              <a:gd name="adj" fmla="val 25641"/>
            </a:avLst>
          </a:prstGeom>
          <a:solidFill>
            <a:srgbClr val="EAF7F1"/>
          </a:solidFill>
          <a:ln w="12700">
            <a:solidFill>
              <a:srgbClr val="EAF7F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44752" y="5916168"/>
            <a:ext cx="929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8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COST gradient ≠ negative regression slope.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Descent: Finding the Regression Slope</dc:title>
  <dc:subject>Gradient descent classroom walkthrough</dc:subject>
  <dc:creator>OpenAI</dc:creator>
  <cp:lastModifiedBy>OpenAI</cp:lastModifiedBy>
  <cp:revision>1</cp:revision>
  <dcterms:created xsi:type="dcterms:W3CDTF">2026-10-26T17:10:23Z</dcterms:created>
  <dcterms:modified xsi:type="dcterms:W3CDTF">2026-10-26T17:10:23Z</dcterms:modified>
</cp:coreProperties>
</file>